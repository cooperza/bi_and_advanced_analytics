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0212A9-84CB-55F4-FEFD-96E00962C272}" v="8" dt="2019-11-20T23:15:23.091"/>
    <p1510:client id="{99D7D9A0-01AF-441F-8389-E3CDC39356C8}" v="2866" dt="2019-11-20T23:32:23.9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DCAB7F-F45E-48FD-96CE-A42D04E5B6BC}"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C46D924-4BD5-4BB8-86EE-0276402C091A}">
      <dgm:prSet/>
      <dgm:spPr/>
      <dgm:t>
        <a:bodyPr/>
        <a:lstStyle/>
        <a:p>
          <a:pPr rtl="0">
            <a:defRPr cap="all"/>
          </a:pPr>
          <a:r>
            <a:rPr lang="en-US"/>
            <a:t>Google Play Store </a:t>
          </a:r>
          <a:r>
            <a:rPr lang="en-US">
              <a:latin typeface="Calibri Light" panose="020F0302020204030204"/>
            </a:rPr>
            <a:t>data</a:t>
          </a:r>
          <a:endParaRPr lang="en-US"/>
        </a:p>
      </dgm:t>
    </dgm:pt>
    <dgm:pt modelId="{D4840EBC-5B57-483C-A00C-D5648CD7707D}" type="parTrans" cxnId="{77E86EA7-AD5E-49AF-BEE8-4E974272B80C}">
      <dgm:prSet/>
      <dgm:spPr/>
      <dgm:t>
        <a:bodyPr/>
        <a:lstStyle/>
        <a:p>
          <a:endParaRPr lang="en-US"/>
        </a:p>
      </dgm:t>
    </dgm:pt>
    <dgm:pt modelId="{BD66084C-0323-4D28-ACCD-4B8BD9B9D74E}" type="sibTrans" cxnId="{77E86EA7-AD5E-49AF-BEE8-4E974272B80C}">
      <dgm:prSet/>
      <dgm:spPr/>
      <dgm:t>
        <a:bodyPr/>
        <a:lstStyle/>
        <a:p>
          <a:endParaRPr lang="en-US"/>
        </a:p>
      </dgm:t>
    </dgm:pt>
    <dgm:pt modelId="{6F04AC12-729C-4DD3-9DC3-62701C5B68B9}">
      <dgm:prSet/>
      <dgm:spPr/>
      <dgm:t>
        <a:bodyPr/>
        <a:lstStyle/>
        <a:p>
          <a:pPr>
            <a:defRPr cap="all"/>
          </a:pPr>
          <a:r>
            <a:rPr lang="en-US"/>
            <a:t>Number of installs for hundred thousand apps</a:t>
          </a:r>
        </a:p>
      </dgm:t>
    </dgm:pt>
    <dgm:pt modelId="{487000B7-5ECE-46A4-8543-649F2B978800}" type="parTrans" cxnId="{CC162EA1-DD48-4DB2-B100-BFCB81FFEBCD}">
      <dgm:prSet/>
      <dgm:spPr/>
      <dgm:t>
        <a:bodyPr/>
        <a:lstStyle/>
        <a:p>
          <a:endParaRPr lang="en-US"/>
        </a:p>
      </dgm:t>
    </dgm:pt>
    <dgm:pt modelId="{BC47EDFB-3322-48FF-8E70-7D8EBC6FD492}" type="sibTrans" cxnId="{CC162EA1-DD48-4DB2-B100-BFCB81FFEBCD}">
      <dgm:prSet/>
      <dgm:spPr/>
      <dgm:t>
        <a:bodyPr/>
        <a:lstStyle/>
        <a:p>
          <a:endParaRPr lang="en-US"/>
        </a:p>
      </dgm:t>
    </dgm:pt>
    <dgm:pt modelId="{3D172AD7-C42A-47B3-8257-762CDBAAE46B}">
      <dgm:prSet/>
      <dgm:spPr/>
      <dgm:t>
        <a:bodyPr/>
        <a:lstStyle/>
        <a:p>
          <a:pPr>
            <a:defRPr cap="all"/>
          </a:pPr>
          <a:r>
            <a:rPr lang="en-US"/>
            <a:t>Broken down by category, genre, name, date published, etc.</a:t>
          </a:r>
        </a:p>
      </dgm:t>
    </dgm:pt>
    <dgm:pt modelId="{240C60A8-E064-438C-950B-B32C4D15F3F8}" type="parTrans" cxnId="{5A1BDCEC-5EA4-4AE7-AA05-67D8BA69DCD9}">
      <dgm:prSet/>
      <dgm:spPr/>
      <dgm:t>
        <a:bodyPr/>
        <a:lstStyle/>
        <a:p>
          <a:endParaRPr lang="en-US"/>
        </a:p>
      </dgm:t>
    </dgm:pt>
    <dgm:pt modelId="{4AD2F848-1ABB-4B84-AB40-466BE04023EE}" type="sibTrans" cxnId="{5A1BDCEC-5EA4-4AE7-AA05-67D8BA69DCD9}">
      <dgm:prSet/>
      <dgm:spPr/>
      <dgm:t>
        <a:bodyPr/>
        <a:lstStyle/>
        <a:p>
          <a:endParaRPr lang="en-US"/>
        </a:p>
      </dgm:t>
    </dgm:pt>
    <dgm:pt modelId="{E8E2A1BE-D201-4F22-B266-10B49C3385DD}">
      <dgm:prSet/>
      <dgm:spPr/>
      <dgm:t>
        <a:bodyPr/>
        <a:lstStyle/>
        <a:p>
          <a:pPr rtl="0">
            <a:defRPr cap="all"/>
          </a:pPr>
          <a:r>
            <a:rPr lang="en-US"/>
            <a:t>Interesting </a:t>
          </a:r>
          <a:r>
            <a:rPr lang="en-US">
              <a:latin typeface="Calibri Light" panose="020F0302020204030204"/>
            </a:rPr>
            <a:t>patterns including</a:t>
          </a:r>
          <a:r>
            <a:rPr lang="en-US"/>
            <a:t> most ratings above 4</a:t>
          </a:r>
        </a:p>
      </dgm:t>
    </dgm:pt>
    <dgm:pt modelId="{3AE32F2C-ACE3-445F-8B05-18D70572C037}" type="parTrans" cxnId="{14B66C6A-C950-4D91-AFE6-9DDBBC7ECABA}">
      <dgm:prSet/>
      <dgm:spPr/>
      <dgm:t>
        <a:bodyPr/>
        <a:lstStyle/>
        <a:p>
          <a:endParaRPr lang="en-US"/>
        </a:p>
      </dgm:t>
    </dgm:pt>
    <dgm:pt modelId="{61D6E9BF-20FA-4098-A316-789C1D14E047}" type="sibTrans" cxnId="{14B66C6A-C950-4D91-AFE6-9DDBBC7ECABA}">
      <dgm:prSet/>
      <dgm:spPr/>
      <dgm:t>
        <a:bodyPr/>
        <a:lstStyle/>
        <a:p>
          <a:endParaRPr lang="en-US"/>
        </a:p>
      </dgm:t>
    </dgm:pt>
    <dgm:pt modelId="{81103165-80FC-4138-84F4-9BDE5CC9C59C}" type="pres">
      <dgm:prSet presAssocID="{66DCAB7F-F45E-48FD-96CE-A42D04E5B6BC}" presName="root" presStyleCnt="0">
        <dgm:presLayoutVars>
          <dgm:dir/>
          <dgm:resizeHandles val="exact"/>
        </dgm:presLayoutVars>
      </dgm:prSet>
      <dgm:spPr/>
    </dgm:pt>
    <dgm:pt modelId="{A7171FE4-0318-4935-9A0E-41B466FFB7C2}" type="pres">
      <dgm:prSet presAssocID="{2C46D924-4BD5-4BB8-86EE-0276402C091A}" presName="compNode" presStyleCnt="0"/>
      <dgm:spPr/>
    </dgm:pt>
    <dgm:pt modelId="{51A64A84-3F1A-49AD-BDFC-481D8E8E0343}" type="pres">
      <dgm:prSet presAssocID="{2C46D924-4BD5-4BB8-86EE-0276402C091A}" presName="iconBgRect" presStyleLbl="bgShp" presStyleIdx="0" presStyleCnt="4"/>
      <dgm:spPr/>
    </dgm:pt>
    <dgm:pt modelId="{B6E8E49D-51D2-42D3-9FE6-7ABC09A6F2F1}" type="pres">
      <dgm:prSet presAssocID="{2C46D924-4BD5-4BB8-86EE-0276402C091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64A0043E-E27D-46E8-B6F5-F3380E06ABEA}" type="pres">
      <dgm:prSet presAssocID="{2C46D924-4BD5-4BB8-86EE-0276402C091A}" presName="spaceRect" presStyleCnt="0"/>
      <dgm:spPr/>
    </dgm:pt>
    <dgm:pt modelId="{F3B8A248-C753-44B6-96FB-7E354FB59C81}" type="pres">
      <dgm:prSet presAssocID="{2C46D924-4BD5-4BB8-86EE-0276402C091A}" presName="textRect" presStyleLbl="revTx" presStyleIdx="0" presStyleCnt="4">
        <dgm:presLayoutVars>
          <dgm:chMax val="1"/>
          <dgm:chPref val="1"/>
        </dgm:presLayoutVars>
      </dgm:prSet>
      <dgm:spPr/>
    </dgm:pt>
    <dgm:pt modelId="{B316D526-575D-40E7-8D30-0A4F29C5A7C3}" type="pres">
      <dgm:prSet presAssocID="{BD66084C-0323-4D28-ACCD-4B8BD9B9D74E}" presName="sibTrans" presStyleCnt="0"/>
      <dgm:spPr/>
    </dgm:pt>
    <dgm:pt modelId="{DDCB1C1A-192D-4996-BE54-FEB04699C035}" type="pres">
      <dgm:prSet presAssocID="{6F04AC12-729C-4DD3-9DC3-62701C5B68B9}" presName="compNode" presStyleCnt="0"/>
      <dgm:spPr/>
    </dgm:pt>
    <dgm:pt modelId="{7BF7C28A-29CC-42A7-8D8C-246BE6DED8E8}" type="pres">
      <dgm:prSet presAssocID="{6F04AC12-729C-4DD3-9DC3-62701C5B68B9}" presName="iconBgRect" presStyleLbl="bgShp" presStyleIdx="1" presStyleCnt="4"/>
      <dgm:spPr/>
    </dgm:pt>
    <dgm:pt modelId="{80D3C7C7-AFAA-421A-9665-7564712754FF}" type="pres">
      <dgm:prSet presAssocID="{6F04AC12-729C-4DD3-9DC3-62701C5B68B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mart Phone"/>
        </a:ext>
      </dgm:extLst>
    </dgm:pt>
    <dgm:pt modelId="{9B106CEC-3A43-4A36-B7A5-D21ED917792E}" type="pres">
      <dgm:prSet presAssocID="{6F04AC12-729C-4DD3-9DC3-62701C5B68B9}" presName="spaceRect" presStyleCnt="0"/>
      <dgm:spPr/>
    </dgm:pt>
    <dgm:pt modelId="{C5BEFE38-0E3E-49EE-8D7B-38F9EE519792}" type="pres">
      <dgm:prSet presAssocID="{6F04AC12-729C-4DD3-9DC3-62701C5B68B9}" presName="textRect" presStyleLbl="revTx" presStyleIdx="1" presStyleCnt="4">
        <dgm:presLayoutVars>
          <dgm:chMax val="1"/>
          <dgm:chPref val="1"/>
        </dgm:presLayoutVars>
      </dgm:prSet>
      <dgm:spPr/>
    </dgm:pt>
    <dgm:pt modelId="{6F11C57F-3D25-4D61-A28A-E3ADEF214957}" type="pres">
      <dgm:prSet presAssocID="{BC47EDFB-3322-48FF-8E70-7D8EBC6FD492}" presName="sibTrans" presStyleCnt="0"/>
      <dgm:spPr/>
    </dgm:pt>
    <dgm:pt modelId="{CF34C704-0FA4-48FC-AECA-060CE22EC168}" type="pres">
      <dgm:prSet presAssocID="{3D172AD7-C42A-47B3-8257-762CDBAAE46B}" presName="compNode" presStyleCnt="0"/>
      <dgm:spPr/>
    </dgm:pt>
    <dgm:pt modelId="{8F9782E6-5953-4412-B664-3CE90ED5E54B}" type="pres">
      <dgm:prSet presAssocID="{3D172AD7-C42A-47B3-8257-762CDBAAE46B}" presName="iconBgRect" presStyleLbl="bgShp" presStyleIdx="2" presStyleCnt="4"/>
      <dgm:spPr/>
    </dgm:pt>
    <dgm:pt modelId="{1985BE8D-CE22-4B28-AEBB-ED411D43AF5B}" type="pres">
      <dgm:prSet presAssocID="{3D172AD7-C42A-47B3-8257-762CDBAAE46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otes"/>
        </a:ext>
      </dgm:extLst>
    </dgm:pt>
    <dgm:pt modelId="{6F8D04C0-CC64-4CF3-962B-602DCB275F8A}" type="pres">
      <dgm:prSet presAssocID="{3D172AD7-C42A-47B3-8257-762CDBAAE46B}" presName="spaceRect" presStyleCnt="0"/>
      <dgm:spPr/>
    </dgm:pt>
    <dgm:pt modelId="{2A469BDD-CE40-433D-B516-3AADDD099E03}" type="pres">
      <dgm:prSet presAssocID="{3D172AD7-C42A-47B3-8257-762CDBAAE46B}" presName="textRect" presStyleLbl="revTx" presStyleIdx="2" presStyleCnt="4">
        <dgm:presLayoutVars>
          <dgm:chMax val="1"/>
          <dgm:chPref val="1"/>
        </dgm:presLayoutVars>
      </dgm:prSet>
      <dgm:spPr/>
    </dgm:pt>
    <dgm:pt modelId="{F5B66D60-4539-400F-80E2-46448EB4012B}" type="pres">
      <dgm:prSet presAssocID="{4AD2F848-1ABB-4B84-AB40-466BE04023EE}" presName="sibTrans" presStyleCnt="0"/>
      <dgm:spPr/>
    </dgm:pt>
    <dgm:pt modelId="{6F1ECB49-935D-4577-A9EF-4917A7EABA22}" type="pres">
      <dgm:prSet presAssocID="{E8E2A1BE-D201-4F22-B266-10B49C3385DD}" presName="compNode" presStyleCnt="0"/>
      <dgm:spPr/>
    </dgm:pt>
    <dgm:pt modelId="{66B1FE99-6529-4265-8405-8B744419BAB7}" type="pres">
      <dgm:prSet presAssocID="{E8E2A1BE-D201-4F22-B266-10B49C3385DD}" presName="iconBgRect" presStyleLbl="bgShp" presStyleIdx="3" presStyleCnt="4"/>
      <dgm:spPr/>
    </dgm:pt>
    <dgm:pt modelId="{0AE95389-1AC8-456A-A62F-9F85D044EBE6}" type="pres">
      <dgm:prSet presAssocID="{E8E2A1BE-D201-4F22-B266-10B49C3385D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750A4DDE-E5C0-4EFA-B73F-D664936D45A0}" type="pres">
      <dgm:prSet presAssocID="{E8E2A1BE-D201-4F22-B266-10B49C3385DD}" presName="spaceRect" presStyleCnt="0"/>
      <dgm:spPr/>
    </dgm:pt>
    <dgm:pt modelId="{E8F5DF40-947B-4619-8C41-FA3D6AB3A5B2}" type="pres">
      <dgm:prSet presAssocID="{E8E2A1BE-D201-4F22-B266-10B49C3385DD}" presName="textRect" presStyleLbl="revTx" presStyleIdx="3" presStyleCnt="4">
        <dgm:presLayoutVars>
          <dgm:chMax val="1"/>
          <dgm:chPref val="1"/>
        </dgm:presLayoutVars>
      </dgm:prSet>
      <dgm:spPr/>
    </dgm:pt>
  </dgm:ptLst>
  <dgm:cxnLst>
    <dgm:cxn modelId="{05EE982C-3113-4040-A979-2EAAD2ADFCFA}" type="presOf" srcId="{2C46D924-4BD5-4BB8-86EE-0276402C091A}" destId="{F3B8A248-C753-44B6-96FB-7E354FB59C81}" srcOrd="0" destOrd="0" presId="urn:microsoft.com/office/officeart/2018/5/layout/IconCircleLabelList"/>
    <dgm:cxn modelId="{FBE26467-1EA6-4941-91A3-8C312D1CC831}" type="presOf" srcId="{6F04AC12-729C-4DD3-9DC3-62701C5B68B9}" destId="{C5BEFE38-0E3E-49EE-8D7B-38F9EE519792}" srcOrd="0" destOrd="0" presId="urn:microsoft.com/office/officeart/2018/5/layout/IconCircleLabelList"/>
    <dgm:cxn modelId="{14B66C6A-C950-4D91-AFE6-9DDBBC7ECABA}" srcId="{66DCAB7F-F45E-48FD-96CE-A42D04E5B6BC}" destId="{E8E2A1BE-D201-4F22-B266-10B49C3385DD}" srcOrd="3" destOrd="0" parTransId="{3AE32F2C-ACE3-445F-8B05-18D70572C037}" sibTransId="{61D6E9BF-20FA-4098-A316-789C1D14E047}"/>
    <dgm:cxn modelId="{BBB77F51-FFE1-4CCB-9661-5EE2918DA403}" type="presOf" srcId="{E8E2A1BE-D201-4F22-B266-10B49C3385DD}" destId="{E8F5DF40-947B-4619-8C41-FA3D6AB3A5B2}" srcOrd="0" destOrd="0" presId="urn:microsoft.com/office/officeart/2018/5/layout/IconCircleLabelList"/>
    <dgm:cxn modelId="{F76ED69B-707F-4A78-A2EB-0D9477C63501}" type="presOf" srcId="{3D172AD7-C42A-47B3-8257-762CDBAAE46B}" destId="{2A469BDD-CE40-433D-B516-3AADDD099E03}" srcOrd="0" destOrd="0" presId="urn:microsoft.com/office/officeart/2018/5/layout/IconCircleLabelList"/>
    <dgm:cxn modelId="{CC162EA1-DD48-4DB2-B100-BFCB81FFEBCD}" srcId="{66DCAB7F-F45E-48FD-96CE-A42D04E5B6BC}" destId="{6F04AC12-729C-4DD3-9DC3-62701C5B68B9}" srcOrd="1" destOrd="0" parTransId="{487000B7-5ECE-46A4-8543-649F2B978800}" sibTransId="{BC47EDFB-3322-48FF-8E70-7D8EBC6FD492}"/>
    <dgm:cxn modelId="{77E86EA7-AD5E-49AF-BEE8-4E974272B80C}" srcId="{66DCAB7F-F45E-48FD-96CE-A42D04E5B6BC}" destId="{2C46D924-4BD5-4BB8-86EE-0276402C091A}" srcOrd="0" destOrd="0" parTransId="{D4840EBC-5B57-483C-A00C-D5648CD7707D}" sibTransId="{BD66084C-0323-4D28-ACCD-4B8BD9B9D74E}"/>
    <dgm:cxn modelId="{B3E459DB-FE68-404C-BAC8-AE7C2796A3FA}" type="presOf" srcId="{66DCAB7F-F45E-48FD-96CE-A42D04E5B6BC}" destId="{81103165-80FC-4138-84F4-9BDE5CC9C59C}" srcOrd="0" destOrd="0" presId="urn:microsoft.com/office/officeart/2018/5/layout/IconCircleLabelList"/>
    <dgm:cxn modelId="{5A1BDCEC-5EA4-4AE7-AA05-67D8BA69DCD9}" srcId="{66DCAB7F-F45E-48FD-96CE-A42D04E5B6BC}" destId="{3D172AD7-C42A-47B3-8257-762CDBAAE46B}" srcOrd="2" destOrd="0" parTransId="{240C60A8-E064-438C-950B-B32C4D15F3F8}" sibTransId="{4AD2F848-1ABB-4B84-AB40-466BE04023EE}"/>
    <dgm:cxn modelId="{8FE28116-C7C7-4304-BF61-E475A1B76BF3}" type="presParOf" srcId="{81103165-80FC-4138-84F4-9BDE5CC9C59C}" destId="{A7171FE4-0318-4935-9A0E-41B466FFB7C2}" srcOrd="0" destOrd="0" presId="urn:microsoft.com/office/officeart/2018/5/layout/IconCircleLabelList"/>
    <dgm:cxn modelId="{254C9174-89FC-41DB-A12E-D2316F62E2FB}" type="presParOf" srcId="{A7171FE4-0318-4935-9A0E-41B466FFB7C2}" destId="{51A64A84-3F1A-49AD-BDFC-481D8E8E0343}" srcOrd="0" destOrd="0" presId="urn:microsoft.com/office/officeart/2018/5/layout/IconCircleLabelList"/>
    <dgm:cxn modelId="{A77E49CB-56AE-4896-B78D-5AEDC5AF4AFF}" type="presParOf" srcId="{A7171FE4-0318-4935-9A0E-41B466FFB7C2}" destId="{B6E8E49D-51D2-42D3-9FE6-7ABC09A6F2F1}" srcOrd="1" destOrd="0" presId="urn:microsoft.com/office/officeart/2018/5/layout/IconCircleLabelList"/>
    <dgm:cxn modelId="{43AA29E8-F1E8-4976-AD26-7F8BDC81B083}" type="presParOf" srcId="{A7171FE4-0318-4935-9A0E-41B466FFB7C2}" destId="{64A0043E-E27D-46E8-B6F5-F3380E06ABEA}" srcOrd="2" destOrd="0" presId="urn:microsoft.com/office/officeart/2018/5/layout/IconCircleLabelList"/>
    <dgm:cxn modelId="{A31E5F0C-628C-4C4F-9BDC-E427E460AD8D}" type="presParOf" srcId="{A7171FE4-0318-4935-9A0E-41B466FFB7C2}" destId="{F3B8A248-C753-44B6-96FB-7E354FB59C81}" srcOrd="3" destOrd="0" presId="urn:microsoft.com/office/officeart/2018/5/layout/IconCircleLabelList"/>
    <dgm:cxn modelId="{31A4D972-070B-49A6-A067-A040F3D1C09F}" type="presParOf" srcId="{81103165-80FC-4138-84F4-9BDE5CC9C59C}" destId="{B316D526-575D-40E7-8D30-0A4F29C5A7C3}" srcOrd="1" destOrd="0" presId="urn:microsoft.com/office/officeart/2018/5/layout/IconCircleLabelList"/>
    <dgm:cxn modelId="{8473A8BF-2EF6-47E3-ADE6-3A7D796C9E22}" type="presParOf" srcId="{81103165-80FC-4138-84F4-9BDE5CC9C59C}" destId="{DDCB1C1A-192D-4996-BE54-FEB04699C035}" srcOrd="2" destOrd="0" presId="urn:microsoft.com/office/officeart/2018/5/layout/IconCircleLabelList"/>
    <dgm:cxn modelId="{79B558B2-36C4-41B4-B65C-FB7CD8CDA71C}" type="presParOf" srcId="{DDCB1C1A-192D-4996-BE54-FEB04699C035}" destId="{7BF7C28A-29CC-42A7-8D8C-246BE6DED8E8}" srcOrd="0" destOrd="0" presId="urn:microsoft.com/office/officeart/2018/5/layout/IconCircleLabelList"/>
    <dgm:cxn modelId="{808D80B1-1184-45E9-B0CE-54EEC5ADC15F}" type="presParOf" srcId="{DDCB1C1A-192D-4996-BE54-FEB04699C035}" destId="{80D3C7C7-AFAA-421A-9665-7564712754FF}" srcOrd="1" destOrd="0" presId="urn:microsoft.com/office/officeart/2018/5/layout/IconCircleLabelList"/>
    <dgm:cxn modelId="{4359BB5E-F246-47DC-8ADE-6A210593D085}" type="presParOf" srcId="{DDCB1C1A-192D-4996-BE54-FEB04699C035}" destId="{9B106CEC-3A43-4A36-B7A5-D21ED917792E}" srcOrd="2" destOrd="0" presId="urn:microsoft.com/office/officeart/2018/5/layout/IconCircleLabelList"/>
    <dgm:cxn modelId="{E7D94135-7F40-4331-BBB4-9648FB5DF5F2}" type="presParOf" srcId="{DDCB1C1A-192D-4996-BE54-FEB04699C035}" destId="{C5BEFE38-0E3E-49EE-8D7B-38F9EE519792}" srcOrd="3" destOrd="0" presId="urn:microsoft.com/office/officeart/2018/5/layout/IconCircleLabelList"/>
    <dgm:cxn modelId="{D1A7A8F0-49D1-4B4D-85BC-859B71B16944}" type="presParOf" srcId="{81103165-80FC-4138-84F4-9BDE5CC9C59C}" destId="{6F11C57F-3D25-4D61-A28A-E3ADEF214957}" srcOrd="3" destOrd="0" presId="urn:microsoft.com/office/officeart/2018/5/layout/IconCircleLabelList"/>
    <dgm:cxn modelId="{7024E574-53B4-4B36-90FD-ABD49C6F2520}" type="presParOf" srcId="{81103165-80FC-4138-84F4-9BDE5CC9C59C}" destId="{CF34C704-0FA4-48FC-AECA-060CE22EC168}" srcOrd="4" destOrd="0" presId="urn:microsoft.com/office/officeart/2018/5/layout/IconCircleLabelList"/>
    <dgm:cxn modelId="{B469B1EC-75F9-4328-8C0B-CE4E9F992E14}" type="presParOf" srcId="{CF34C704-0FA4-48FC-AECA-060CE22EC168}" destId="{8F9782E6-5953-4412-B664-3CE90ED5E54B}" srcOrd="0" destOrd="0" presId="urn:microsoft.com/office/officeart/2018/5/layout/IconCircleLabelList"/>
    <dgm:cxn modelId="{E6EEBE1B-DFAC-443E-9034-9407F7B790C7}" type="presParOf" srcId="{CF34C704-0FA4-48FC-AECA-060CE22EC168}" destId="{1985BE8D-CE22-4B28-AEBB-ED411D43AF5B}" srcOrd="1" destOrd="0" presId="urn:microsoft.com/office/officeart/2018/5/layout/IconCircleLabelList"/>
    <dgm:cxn modelId="{A83D926F-68A4-48C2-BB97-A226B12EFE12}" type="presParOf" srcId="{CF34C704-0FA4-48FC-AECA-060CE22EC168}" destId="{6F8D04C0-CC64-4CF3-962B-602DCB275F8A}" srcOrd="2" destOrd="0" presId="urn:microsoft.com/office/officeart/2018/5/layout/IconCircleLabelList"/>
    <dgm:cxn modelId="{9874B48D-3415-44AF-B134-4E0F2A820757}" type="presParOf" srcId="{CF34C704-0FA4-48FC-AECA-060CE22EC168}" destId="{2A469BDD-CE40-433D-B516-3AADDD099E03}" srcOrd="3" destOrd="0" presId="urn:microsoft.com/office/officeart/2018/5/layout/IconCircleLabelList"/>
    <dgm:cxn modelId="{D91EB788-8DA7-4F8D-9CE3-AD17CF677435}" type="presParOf" srcId="{81103165-80FC-4138-84F4-9BDE5CC9C59C}" destId="{F5B66D60-4539-400F-80E2-46448EB4012B}" srcOrd="5" destOrd="0" presId="urn:microsoft.com/office/officeart/2018/5/layout/IconCircleLabelList"/>
    <dgm:cxn modelId="{D368F9BB-50D6-41BB-9E94-B6B04E8CF7C0}" type="presParOf" srcId="{81103165-80FC-4138-84F4-9BDE5CC9C59C}" destId="{6F1ECB49-935D-4577-A9EF-4917A7EABA22}" srcOrd="6" destOrd="0" presId="urn:microsoft.com/office/officeart/2018/5/layout/IconCircleLabelList"/>
    <dgm:cxn modelId="{7AFEFC24-C5EB-4121-95D8-6E3CBF4E448D}" type="presParOf" srcId="{6F1ECB49-935D-4577-A9EF-4917A7EABA22}" destId="{66B1FE99-6529-4265-8405-8B744419BAB7}" srcOrd="0" destOrd="0" presId="urn:microsoft.com/office/officeart/2018/5/layout/IconCircleLabelList"/>
    <dgm:cxn modelId="{9ACC2F5C-CFD0-46CB-BD49-561A397472B3}" type="presParOf" srcId="{6F1ECB49-935D-4577-A9EF-4917A7EABA22}" destId="{0AE95389-1AC8-456A-A62F-9F85D044EBE6}" srcOrd="1" destOrd="0" presId="urn:microsoft.com/office/officeart/2018/5/layout/IconCircleLabelList"/>
    <dgm:cxn modelId="{8EB82B75-327B-4C78-8452-C29911A6E540}" type="presParOf" srcId="{6F1ECB49-935D-4577-A9EF-4917A7EABA22}" destId="{750A4DDE-E5C0-4EFA-B73F-D664936D45A0}" srcOrd="2" destOrd="0" presId="urn:microsoft.com/office/officeart/2018/5/layout/IconCircleLabelList"/>
    <dgm:cxn modelId="{540A4B09-799A-4EB6-91BF-6CE611DF054C}" type="presParOf" srcId="{6F1ECB49-935D-4577-A9EF-4917A7EABA22}" destId="{E8F5DF40-947B-4619-8C41-FA3D6AB3A5B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64A84-3F1A-49AD-BDFC-481D8E8E0343}">
      <dsp:nvSpPr>
        <dsp:cNvPr id="0" name=""/>
        <dsp:cNvSpPr/>
      </dsp:nvSpPr>
      <dsp:spPr>
        <a:xfrm>
          <a:off x="1124440" y="12702"/>
          <a:ext cx="1457412" cy="14574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E8E49D-51D2-42D3-9FE6-7ABC09A6F2F1}">
      <dsp:nvSpPr>
        <dsp:cNvPr id="0" name=""/>
        <dsp:cNvSpPr/>
      </dsp:nvSpPr>
      <dsp:spPr>
        <a:xfrm>
          <a:off x="1435036" y="323298"/>
          <a:ext cx="836220" cy="8362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B8A248-C753-44B6-96FB-7E354FB59C81}">
      <dsp:nvSpPr>
        <dsp:cNvPr id="0" name=""/>
        <dsp:cNvSpPr/>
      </dsp:nvSpPr>
      <dsp:spPr>
        <a:xfrm>
          <a:off x="658546" y="1924062"/>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rtl="0">
            <a:lnSpc>
              <a:spcPct val="90000"/>
            </a:lnSpc>
            <a:spcBef>
              <a:spcPct val="0"/>
            </a:spcBef>
            <a:spcAft>
              <a:spcPct val="35000"/>
            </a:spcAft>
            <a:buNone/>
            <a:defRPr cap="all"/>
          </a:pPr>
          <a:r>
            <a:rPr lang="en-US" sz="1700" kern="1200"/>
            <a:t>Google Play Store </a:t>
          </a:r>
          <a:r>
            <a:rPr lang="en-US" sz="1700" kern="1200">
              <a:latin typeface="Calibri Light" panose="020F0302020204030204"/>
            </a:rPr>
            <a:t>data</a:t>
          </a:r>
          <a:endParaRPr lang="en-US" sz="1700" kern="1200"/>
        </a:p>
      </dsp:txBody>
      <dsp:txXfrm>
        <a:off x="658546" y="1924062"/>
        <a:ext cx="2389200" cy="720000"/>
      </dsp:txXfrm>
    </dsp:sp>
    <dsp:sp modelId="{7BF7C28A-29CC-42A7-8D8C-246BE6DED8E8}">
      <dsp:nvSpPr>
        <dsp:cNvPr id="0" name=""/>
        <dsp:cNvSpPr/>
      </dsp:nvSpPr>
      <dsp:spPr>
        <a:xfrm>
          <a:off x="3931751" y="12702"/>
          <a:ext cx="1457412" cy="14574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D3C7C7-AFAA-421A-9665-7564712754FF}">
      <dsp:nvSpPr>
        <dsp:cNvPr id="0" name=""/>
        <dsp:cNvSpPr/>
      </dsp:nvSpPr>
      <dsp:spPr>
        <a:xfrm>
          <a:off x="4242347" y="323298"/>
          <a:ext cx="836220" cy="8362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BEFE38-0E3E-49EE-8D7B-38F9EE519792}">
      <dsp:nvSpPr>
        <dsp:cNvPr id="0" name=""/>
        <dsp:cNvSpPr/>
      </dsp:nvSpPr>
      <dsp:spPr>
        <a:xfrm>
          <a:off x="3465857" y="1924062"/>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Number of installs for hundred thousand apps</a:t>
          </a:r>
        </a:p>
      </dsp:txBody>
      <dsp:txXfrm>
        <a:off x="3465857" y="1924062"/>
        <a:ext cx="2389200" cy="720000"/>
      </dsp:txXfrm>
    </dsp:sp>
    <dsp:sp modelId="{8F9782E6-5953-4412-B664-3CE90ED5E54B}">
      <dsp:nvSpPr>
        <dsp:cNvPr id="0" name=""/>
        <dsp:cNvSpPr/>
      </dsp:nvSpPr>
      <dsp:spPr>
        <a:xfrm>
          <a:off x="1124440" y="3241363"/>
          <a:ext cx="1457412" cy="14574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85BE8D-CE22-4B28-AEBB-ED411D43AF5B}">
      <dsp:nvSpPr>
        <dsp:cNvPr id="0" name=""/>
        <dsp:cNvSpPr/>
      </dsp:nvSpPr>
      <dsp:spPr>
        <a:xfrm>
          <a:off x="1435036" y="3551959"/>
          <a:ext cx="836220" cy="8362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469BDD-CE40-433D-B516-3AADDD099E03}">
      <dsp:nvSpPr>
        <dsp:cNvPr id="0" name=""/>
        <dsp:cNvSpPr/>
      </dsp:nvSpPr>
      <dsp:spPr>
        <a:xfrm>
          <a:off x="658546" y="5152723"/>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Broken down by category, genre, name, date published, etc.</a:t>
          </a:r>
        </a:p>
      </dsp:txBody>
      <dsp:txXfrm>
        <a:off x="658546" y="5152723"/>
        <a:ext cx="2389200" cy="720000"/>
      </dsp:txXfrm>
    </dsp:sp>
    <dsp:sp modelId="{66B1FE99-6529-4265-8405-8B744419BAB7}">
      <dsp:nvSpPr>
        <dsp:cNvPr id="0" name=""/>
        <dsp:cNvSpPr/>
      </dsp:nvSpPr>
      <dsp:spPr>
        <a:xfrm>
          <a:off x="3931751" y="3241363"/>
          <a:ext cx="1457412" cy="145741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E95389-1AC8-456A-A62F-9F85D044EBE6}">
      <dsp:nvSpPr>
        <dsp:cNvPr id="0" name=""/>
        <dsp:cNvSpPr/>
      </dsp:nvSpPr>
      <dsp:spPr>
        <a:xfrm>
          <a:off x="4242347" y="3551959"/>
          <a:ext cx="836220" cy="8362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F5DF40-947B-4619-8C41-FA3D6AB3A5B2}">
      <dsp:nvSpPr>
        <dsp:cNvPr id="0" name=""/>
        <dsp:cNvSpPr/>
      </dsp:nvSpPr>
      <dsp:spPr>
        <a:xfrm>
          <a:off x="3465857" y="5152723"/>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rtl="0">
            <a:lnSpc>
              <a:spcPct val="90000"/>
            </a:lnSpc>
            <a:spcBef>
              <a:spcPct val="0"/>
            </a:spcBef>
            <a:spcAft>
              <a:spcPct val="35000"/>
            </a:spcAft>
            <a:buNone/>
            <a:defRPr cap="all"/>
          </a:pPr>
          <a:r>
            <a:rPr lang="en-US" sz="1700" kern="1200"/>
            <a:t>Interesting </a:t>
          </a:r>
          <a:r>
            <a:rPr lang="en-US" sz="1700" kern="1200">
              <a:latin typeface="Calibri Light" panose="020F0302020204030204"/>
            </a:rPr>
            <a:t>patterns including</a:t>
          </a:r>
          <a:r>
            <a:rPr lang="en-US" sz="1700" kern="1200"/>
            <a:t> most ratings above 4</a:t>
          </a:r>
        </a:p>
      </dsp:txBody>
      <dsp:txXfrm>
        <a:off x="3465857" y="5152723"/>
        <a:ext cx="23892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71531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15604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69640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27776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11/20/2019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74039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11/20/2019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96245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9261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57631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11547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00486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88708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11/20/2019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029020749"/>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838199" y="4525347"/>
            <a:ext cx="6801321" cy="1737360"/>
          </a:xfrm>
        </p:spPr>
        <p:txBody>
          <a:bodyPr anchor="ctr">
            <a:normAutofit/>
          </a:bodyPr>
          <a:lstStyle/>
          <a:p>
            <a:pPr algn="r"/>
            <a:r>
              <a:rPr lang="en-US">
                <a:cs typeface="Calibri Light"/>
              </a:rPr>
              <a:t>WE6 – Data Mining</a:t>
            </a:r>
          </a:p>
        </p:txBody>
      </p:sp>
      <p:sp>
        <p:nvSpPr>
          <p:cNvPr id="3" name="Subtitle 2"/>
          <p:cNvSpPr>
            <a:spLocks noGrp="1"/>
          </p:cNvSpPr>
          <p:nvPr>
            <p:ph type="subTitle" idx="1"/>
          </p:nvPr>
        </p:nvSpPr>
        <p:spPr>
          <a:xfrm>
            <a:off x="7961258" y="4525347"/>
            <a:ext cx="3258675" cy="1737360"/>
          </a:xfrm>
        </p:spPr>
        <p:txBody>
          <a:bodyPr vert="horz" lIns="91440" tIns="45720" rIns="91440" bIns="45720" rtlCol="0" anchor="ctr">
            <a:normAutofit/>
          </a:bodyPr>
          <a:lstStyle/>
          <a:p>
            <a:pPr algn="l"/>
            <a:r>
              <a:rPr lang="en-US">
                <a:cs typeface="Calibri"/>
              </a:rPr>
              <a:t>Zach Cooper &amp; </a:t>
            </a:r>
          </a:p>
          <a:p>
            <a:pPr algn="l"/>
            <a:r>
              <a:rPr lang="en-US" err="1">
                <a:cs typeface="Calibri"/>
              </a:rPr>
              <a:t>Kellyn</a:t>
            </a:r>
            <a:r>
              <a:rPr lang="en-US">
                <a:cs typeface="Calibri"/>
              </a:rPr>
              <a:t> Elaine Wolden</a:t>
            </a:r>
          </a:p>
        </p:txBody>
      </p:sp>
      <p:sp>
        <p:nvSpPr>
          <p:cNvPr id="10"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F33649-5102-4DA3-8545-6FC41491E1E0}"/>
              </a:ext>
            </a:extLst>
          </p:cNvPr>
          <p:cNvSpPr>
            <a:spLocks noGrp="1"/>
          </p:cNvSpPr>
          <p:nvPr>
            <p:ph type="title"/>
          </p:nvPr>
        </p:nvSpPr>
        <p:spPr>
          <a:xfrm>
            <a:off x="863029" y="1012004"/>
            <a:ext cx="3416158" cy="4795408"/>
          </a:xfrm>
        </p:spPr>
        <p:txBody>
          <a:bodyPr>
            <a:normAutofit/>
          </a:bodyPr>
          <a:lstStyle/>
          <a:p>
            <a:r>
              <a:rPr lang="en-US">
                <a:solidFill>
                  <a:srgbClr val="FFFFFF"/>
                </a:solidFill>
                <a:cs typeface="Calibri Light"/>
              </a:rPr>
              <a:t>The Story</a:t>
            </a:r>
            <a:endParaRPr lang="en-US">
              <a:solidFill>
                <a:srgbClr val="FFFFFF"/>
              </a:solidFill>
            </a:endParaRPr>
          </a:p>
        </p:txBody>
      </p:sp>
      <p:graphicFrame>
        <p:nvGraphicFramePr>
          <p:cNvPr id="23" name="Content Placeholder 2">
            <a:extLst>
              <a:ext uri="{FF2B5EF4-FFF2-40B4-BE49-F238E27FC236}">
                <a16:creationId xmlns:a16="http://schemas.microsoft.com/office/drawing/2014/main" id="{CCAFD516-254D-4934-B854-5EB741EB5081}"/>
              </a:ext>
            </a:extLst>
          </p:cNvPr>
          <p:cNvGraphicFramePr>
            <a:graphicFrameLocks noGrp="1"/>
          </p:cNvGraphicFramePr>
          <p:nvPr>
            <p:ph idx="1"/>
            <p:extLst>
              <p:ext uri="{D42A27DB-BD31-4B8C-83A1-F6EECF244321}">
                <p14:modId xmlns:p14="http://schemas.microsoft.com/office/powerpoint/2010/main" val="493441188"/>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8006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20">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E1DD1A-EECF-4A2E-A847-0D4288A89E43}"/>
              </a:ext>
            </a:extLst>
          </p:cNvPr>
          <p:cNvSpPr>
            <a:spLocks noGrp="1"/>
          </p:cNvSpPr>
          <p:nvPr>
            <p:ph type="title"/>
          </p:nvPr>
        </p:nvSpPr>
        <p:spPr>
          <a:xfrm>
            <a:off x="841248" y="426720"/>
            <a:ext cx="10506456" cy="1919141"/>
          </a:xfrm>
        </p:spPr>
        <p:txBody>
          <a:bodyPr anchor="b">
            <a:normAutofit/>
          </a:bodyPr>
          <a:lstStyle/>
          <a:p>
            <a:r>
              <a:rPr lang="en-US" sz="6000">
                <a:cs typeface="Calibri Light" panose="020F0302020204030204"/>
              </a:rPr>
              <a:t>Data Mining: Business Question</a:t>
            </a:r>
          </a:p>
        </p:txBody>
      </p:sp>
      <p:sp>
        <p:nvSpPr>
          <p:cNvPr id="20" name="Rectangle 2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1844866-015E-4608-AD95-EE38D8F59E4C}"/>
              </a:ext>
            </a:extLst>
          </p:cNvPr>
          <p:cNvSpPr>
            <a:spLocks noGrp="1"/>
          </p:cNvSpPr>
          <p:nvPr>
            <p:ph idx="1"/>
          </p:nvPr>
        </p:nvSpPr>
        <p:spPr>
          <a:xfrm>
            <a:off x="841248" y="3337269"/>
            <a:ext cx="10509504" cy="2905686"/>
          </a:xfrm>
        </p:spPr>
        <p:txBody>
          <a:bodyPr vert="horz" lIns="91440" tIns="45720" rIns="91440" bIns="45720" rtlCol="0" anchor="t">
            <a:normAutofit/>
          </a:bodyPr>
          <a:lstStyle/>
          <a:p>
            <a:pPr marL="0" indent="0" algn="ctr">
              <a:buNone/>
            </a:pPr>
            <a:r>
              <a:rPr lang="en-US" sz="4000" b="1">
                <a:ea typeface="+mn-lt"/>
                <a:cs typeface="+mn-lt"/>
              </a:rPr>
              <a:t>What is a good app category to develop in to reach the highest number of consumers based on the categories or genres consumers are more likely to install from the Google Play Store today?</a:t>
            </a:r>
            <a:endParaRPr lang="en-US" sz="4000">
              <a:cs typeface="Calibri" panose="020F0502020204030204"/>
            </a:endParaRPr>
          </a:p>
        </p:txBody>
      </p:sp>
    </p:spTree>
    <p:extLst>
      <p:ext uri="{BB962C8B-B14F-4D97-AF65-F5344CB8AC3E}">
        <p14:creationId xmlns:p14="http://schemas.microsoft.com/office/powerpoint/2010/main" val="3251947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662795" y="-3745097"/>
            <a:ext cx="1354979" cy="10750169"/>
          </a:xfrm>
          <a:prstGeom prst="downArrow">
            <a:avLst>
              <a:gd name="adj1" fmla="val 100000"/>
              <a:gd name="adj2" fmla="val 22582"/>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BF5133-19F8-4B75-9420-BDE70EE846AB}"/>
              </a:ext>
            </a:extLst>
          </p:cNvPr>
          <p:cNvSpPr>
            <a:spLocks noGrp="1"/>
          </p:cNvSpPr>
          <p:nvPr>
            <p:ph type="title"/>
          </p:nvPr>
        </p:nvSpPr>
        <p:spPr>
          <a:xfrm>
            <a:off x="1286932" y="1204109"/>
            <a:ext cx="10023398" cy="857894"/>
          </a:xfrm>
        </p:spPr>
        <p:txBody>
          <a:bodyPr vert="horz" lIns="91440" tIns="45720" rIns="91440" bIns="45720" rtlCol="0" anchor="ctr">
            <a:normAutofit/>
          </a:bodyPr>
          <a:lstStyle/>
          <a:p>
            <a:r>
              <a:rPr lang="en-US" sz="4000" kern="1200">
                <a:solidFill>
                  <a:srgbClr val="FFFFFF"/>
                </a:solidFill>
                <a:latin typeface="+mj-lt"/>
                <a:ea typeface="+mj-ea"/>
                <a:cs typeface="+mj-cs"/>
              </a:rPr>
              <a:t>Data Mining: Decision Tree</a:t>
            </a:r>
          </a:p>
        </p:txBody>
      </p:sp>
      <p:sp>
        <p:nvSpPr>
          <p:cNvPr id="3" name="Content Placeholder 2">
            <a:extLst>
              <a:ext uri="{FF2B5EF4-FFF2-40B4-BE49-F238E27FC236}">
                <a16:creationId xmlns:a16="http://schemas.microsoft.com/office/drawing/2014/main" id="{A56FD152-210B-40B8-9CD9-D38EF87EB35D}"/>
              </a:ext>
            </a:extLst>
          </p:cNvPr>
          <p:cNvSpPr>
            <a:spLocks noGrp="1"/>
          </p:cNvSpPr>
          <p:nvPr>
            <p:ph sz="half" idx="1"/>
          </p:nvPr>
        </p:nvSpPr>
        <p:spPr>
          <a:xfrm>
            <a:off x="266140" y="2286716"/>
            <a:ext cx="3441312" cy="4574048"/>
          </a:xfrm>
        </p:spPr>
        <p:txBody>
          <a:bodyPr vert="horz" lIns="91440" tIns="45720" rIns="91440" bIns="45720" rtlCol="0" anchor="ctr">
            <a:normAutofit/>
          </a:bodyPr>
          <a:lstStyle/>
          <a:p>
            <a:r>
              <a:rPr lang="en-US" sz="2000">
                <a:cs typeface="Calibri"/>
              </a:rPr>
              <a:t>Used decision tree to find most likely categories to be skipped or installed</a:t>
            </a:r>
          </a:p>
          <a:p>
            <a:r>
              <a:rPr lang="en-US" sz="2000">
                <a:cs typeface="Calibri"/>
              </a:rPr>
              <a:t>Found that non-entertainment and non-games along with non-medical apps more likely to be installed</a:t>
            </a:r>
          </a:p>
          <a:p>
            <a:r>
              <a:rPr lang="en-US" sz="2000">
                <a:cs typeface="Calibri"/>
              </a:rPr>
              <a:t>More games/entertainment leads to worse chances for installation</a:t>
            </a:r>
          </a:p>
        </p:txBody>
      </p:sp>
      <p:pic>
        <p:nvPicPr>
          <p:cNvPr id="5" name="Picture 5" descr="A screenshot of a video game&#10;&#10;Description generated with high confidence">
            <a:extLst>
              <a:ext uri="{FF2B5EF4-FFF2-40B4-BE49-F238E27FC236}">
                <a16:creationId xmlns:a16="http://schemas.microsoft.com/office/drawing/2014/main" id="{D305D071-7F77-4919-9583-722E8A0B6D32}"/>
              </a:ext>
            </a:extLst>
          </p:cNvPr>
          <p:cNvPicPr>
            <a:picLocks noGrp="1" noChangeAspect="1"/>
          </p:cNvPicPr>
          <p:nvPr>
            <p:ph sz="half" idx="2"/>
          </p:nvPr>
        </p:nvPicPr>
        <p:blipFill>
          <a:blip r:embed="rId2"/>
          <a:stretch>
            <a:fillRect/>
          </a:stretch>
        </p:blipFill>
        <p:spPr>
          <a:xfrm>
            <a:off x="3971990" y="3315632"/>
            <a:ext cx="8071924" cy="2113650"/>
          </a:xfrm>
          <a:prstGeom prst="rect">
            <a:avLst/>
          </a:prstGeom>
        </p:spPr>
      </p:pic>
    </p:spTree>
    <p:extLst>
      <p:ext uri="{BB962C8B-B14F-4D97-AF65-F5344CB8AC3E}">
        <p14:creationId xmlns:p14="http://schemas.microsoft.com/office/powerpoint/2010/main" val="1970638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21">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23">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25"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8"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3"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4"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5"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6"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7"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8"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a16="http://schemas.microsoft.com/office/drawing/2014/main" id="{91885BDA-B5CC-41E5-93DE-BFB09BEDA4EA}"/>
              </a:ext>
            </a:extLst>
          </p:cNvPr>
          <p:cNvSpPr>
            <a:spLocks noGrp="1"/>
          </p:cNvSpPr>
          <p:nvPr>
            <p:ph type="title"/>
          </p:nvPr>
        </p:nvSpPr>
        <p:spPr>
          <a:xfrm>
            <a:off x="845498" y="5076434"/>
            <a:ext cx="5093596" cy="1777829"/>
          </a:xfrm>
        </p:spPr>
        <p:txBody>
          <a:bodyPr vert="horz" lIns="91440" tIns="45720" rIns="91440" bIns="45720" rtlCol="0" anchor="ctr">
            <a:normAutofit/>
          </a:bodyPr>
          <a:lstStyle/>
          <a:p>
            <a:pPr algn="r"/>
            <a:r>
              <a:rPr lang="en-US" sz="4000"/>
              <a:t>Data Mining: Naïve Bayes</a:t>
            </a:r>
          </a:p>
        </p:txBody>
      </p:sp>
      <p:pic>
        <p:nvPicPr>
          <p:cNvPr id="5" name="Picture 5" descr="A close up of a logo&#10;&#10;Description generated with very high confidence">
            <a:extLst>
              <a:ext uri="{FF2B5EF4-FFF2-40B4-BE49-F238E27FC236}">
                <a16:creationId xmlns:a16="http://schemas.microsoft.com/office/drawing/2014/main" id="{16099FDF-E4B3-46F9-B69A-916438ED54B2}"/>
              </a:ext>
            </a:extLst>
          </p:cNvPr>
          <p:cNvPicPr>
            <a:picLocks noGrp="1" noChangeAspect="1"/>
          </p:cNvPicPr>
          <p:nvPr>
            <p:ph sz="half" idx="2"/>
          </p:nvPr>
        </p:nvPicPr>
        <p:blipFill rotWithShape="1">
          <a:blip r:embed="rId2"/>
          <a:srcRect t="22674"/>
          <a:stretch/>
        </p:blipFill>
        <p:spPr>
          <a:xfrm>
            <a:off x="20" y="2872"/>
            <a:ext cx="12191980" cy="4969765"/>
          </a:xfrm>
          <a:custGeom>
            <a:avLst/>
            <a:gdLst>
              <a:gd name="connsiteX0" fmla="*/ 0 w 12192000"/>
              <a:gd name="connsiteY0" fmla="*/ 0 h 4621300"/>
              <a:gd name="connsiteX1" fmla="*/ 12192000 w 12192000"/>
              <a:gd name="connsiteY1" fmla="*/ 0 h 4621300"/>
              <a:gd name="connsiteX2" fmla="*/ 12192000 w 12192000"/>
              <a:gd name="connsiteY2" fmla="*/ 3104412 h 4621300"/>
              <a:gd name="connsiteX3" fmla="*/ 12192000 w 12192000"/>
              <a:gd name="connsiteY3" fmla="*/ 3296537 h 4621300"/>
              <a:gd name="connsiteX4" fmla="*/ 12192000 w 12192000"/>
              <a:gd name="connsiteY4" fmla="*/ 4272355 h 4621300"/>
              <a:gd name="connsiteX5" fmla="*/ 12113803 w 12192000"/>
              <a:gd name="connsiteY5" fmla="*/ 4280638 h 4621300"/>
              <a:gd name="connsiteX6" fmla="*/ 6753597 w 12192000"/>
              <a:gd name="connsiteY6" fmla="*/ 4604195 h 4621300"/>
              <a:gd name="connsiteX7" fmla="*/ 400746 w 12192000"/>
              <a:gd name="connsiteY7" fmla="*/ 4432852 h 4621300"/>
              <a:gd name="connsiteX8" fmla="*/ 0 w 12192000"/>
              <a:gd name="connsiteY8" fmla="*/ 4395876 h 4621300"/>
              <a:gd name="connsiteX9" fmla="*/ 0 w 12192000"/>
              <a:gd name="connsiteY9" fmla="*/ 3296537 h 4621300"/>
              <a:gd name="connsiteX10" fmla="*/ 0 w 12192000"/>
              <a:gd name="connsiteY10" fmla="*/ 3104412 h 462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621300">
                <a:moveTo>
                  <a:pt x="0" y="0"/>
                </a:moveTo>
                <a:lnTo>
                  <a:pt x="12192000" y="0"/>
                </a:lnTo>
                <a:lnTo>
                  <a:pt x="12192000" y="3104412"/>
                </a:lnTo>
                <a:lnTo>
                  <a:pt x="12192000" y="3296537"/>
                </a:lnTo>
                <a:lnTo>
                  <a:pt x="12192000" y="4272355"/>
                </a:lnTo>
                <a:lnTo>
                  <a:pt x="12113803" y="4280638"/>
                </a:lnTo>
                <a:cubicBezTo>
                  <a:pt x="10139508" y="4478587"/>
                  <a:pt x="8237152" y="4571590"/>
                  <a:pt x="6753597" y="4604195"/>
                </a:cubicBezTo>
                <a:cubicBezTo>
                  <a:pt x="4940362" y="4644044"/>
                  <a:pt x="2657278" y="4624714"/>
                  <a:pt x="400746" y="4432852"/>
                </a:cubicBezTo>
                <a:lnTo>
                  <a:pt x="0" y="4395876"/>
                </a:lnTo>
                <a:lnTo>
                  <a:pt x="0" y="3296537"/>
                </a:lnTo>
                <a:lnTo>
                  <a:pt x="0" y="3104412"/>
                </a:lnTo>
                <a:close/>
              </a:path>
            </a:pathLst>
          </a:custGeom>
        </p:spPr>
      </p:pic>
      <p:sp>
        <p:nvSpPr>
          <p:cNvPr id="3" name="Content Placeholder 2">
            <a:extLst>
              <a:ext uri="{FF2B5EF4-FFF2-40B4-BE49-F238E27FC236}">
                <a16:creationId xmlns:a16="http://schemas.microsoft.com/office/drawing/2014/main" id="{318492D8-E11C-42B7-803F-51AA11FBAB52}"/>
              </a:ext>
            </a:extLst>
          </p:cNvPr>
          <p:cNvSpPr>
            <a:spLocks noGrp="1"/>
          </p:cNvSpPr>
          <p:nvPr>
            <p:ph sz="half" idx="1"/>
          </p:nvPr>
        </p:nvSpPr>
        <p:spPr>
          <a:xfrm>
            <a:off x="7548549" y="942321"/>
            <a:ext cx="4638864" cy="3594651"/>
          </a:xfrm>
        </p:spPr>
        <p:txBody>
          <a:bodyPr vert="horz" lIns="91440" tIns="45720" rIns="91440" bIns="45720" rtlCol="0" anchor="ctr">
            <a:noAutofit/>
          </a:bodyPr>
          <a:lstStyle/>
          <a:p>
            <a:r>
              <a:rPr lang="en-US" sz="2000">
                <a:solidFill>
                  <a:srgbClr val="000000"/>
                </a:solidFill>
              </a:rPr>
              <a:t>Naïve Bayes showed which category had the strongest impact</a:t>
            </a:r>
          </a:p>
          <a:p>
            <a:r>
              <a:rPr lang="en-US" sz="2000">
                <a:solidFill>
                  <a:srgbClr val="000000"/>
                </a:solidFill>
                <a:cs typeface="Calibri"/>
              </a:rPr>
              <a:t>Once rating was removed as a "missing" outlier, category shown as the biggest impactor</a:t>
            </a:r>
          </a:p>
          <a:p>
            <a:r>
              <a:rPr lang="en-US" sz="2000">
                <a:solidFill>
                  <a:srgbClr val="000000"/>
                </a:solidFill>
                <a:cs typeface="Calibri"/>
              </a:rPr>
              <a:t>Naïve Bayes model more able to predict than the Decision Tree model</a:t>
            </a:r>
          </a:p>
        </p:txBody>
      </p:sp>
    </p:spTree>
    <p:extLst>
      <p:ext uri="{BB962C8B-B14F-4D97-AF65-F5344CB8AC3E}">
        <p14:creationId xmlns:p14="http://schemas.microsoft.com/office/powerpoint/2010/main" val="3371575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77E57D-6A88-4B5B-A068-2BA7FF4E8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3BA309-6F30-49EF-86FA-CB71351E8B3E}"/>
              </a:ext>
            </a:extLst>
          </p:cNvPr>
          <p:cNvSpPr>
            <a:spLocks noGrp="1"/>
          </p:cNvSpPr>
          <p:nvPr>
            <p:ph type="title"/>
          </p:nvPr>
        </p:nvSpPr>
        <p:spPr>
          <a:xfrm>
            <a:off x="841248" y="502920"/>
            <a:ext cx="10509504" cy="1975104"/>
          </a:xfrm>
        </p:spPr>
        <p:txBody>
          <a:bodyPr anchor="b">
            <a:normAutofit/>
          </a:bodyPr>
          <a:lstStyle/>
          <a:p>
            <a:r>
              <a:rPr lang="en-US" sz="5400">
                <a:cs typeface="Calibri Light"/>
              </a:rPr>
              <a:t>Data Mining: Conclusions</a:t>
            </a:r>
            <a:endParaRPr lang="en-US" sz="5400"/>
          </a:p>
        </p:txBody>
      </p:sp>
      <p:sp>
        <p:nvSpPr>
          <p:cNvPr id="10" name="Rectangle 9">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289407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BA73858-B9D4-490B-83E8-F06B28254A9D}"/>
              </a:ext>
            </a:extLst>
          </p:cNvPr>
          <p:cNvSpPr>
            <a:spLocks noGrp="1"/>
          </p:cNvSpPr>
          <p:nvPr>
            <p:ph idx="1"/>
          </p:nvPr>
        </p:nvSpPr>
        <p:spPr>
          <a:xfrm>
            <a:off x="841248" y="3328416"/>
            <a:ext cx="10509504" cy="2715768"/>
          </a:xfrm>
        </p:spPr>
        <p:txBody>
          <a:bodyPr vert="horz" lIns="91440" tIns="45720" rIns="91440" bIns="45720" rtlCol="0" anchor="t">
            <a:noAutofit/>
          </a:bodyPr>
          <a:lstStyle/>
          <a:p>
            <a:r>
              <a:rPr lang="en-US" sz="2400">
                <a:ea typeface="+mn-lt"/>
                <a:cs typeface="+mn-lt"/>
              </a:rPr>
              <a:t>Category has a large impact on which apps are installed or not</a:t>
            </a:r>
            <a:endParaRPr lang="en-US" sz="2400">
              <a:cs typeface="Calibri" panose="020F0502020204030204"/>
            </a:endParaRPr>
          </a:p>
          <a:p>
            <a:r>
              <a:rPr lang="en-US" sz="2400">
                <a:cs typeface="Calibri" panose="020F0502020204030204"/>
              </a:rPr>
              <a:t>Avoid continuing to oversaturate the games and entertainment market – much more likely to be skipped over</a:t>
            </a:r>
          </a:p>
          <a:p>
            <a:r>
              <a:rPr lang="en-US" sz="2400">
                <a:cs typeface="Calibri" panose="020F0502020204030204"/>
              </a:rPr>
              <a:t>If possibly developing a medical app, determine the limits of population need in – avoid unnecessary development toward low populations</a:t>
            </a:r>
          </a:p>
          <a:p>
            <a:r>
              <a:rPr lang="en-US" sz="2400">
                <a:cs typeface="Calibri" panose="020F0502020204030204"/>
              </a:rPr>
              <a:t>Family, finance, and education are highest categories for likely installations</a:t>
            </a:r>
          </a:p>
          <a:p>
            <a:endParaRPr lang="en-US" sz="2400">
              <a:cs typeface="Calibri" panose="020F0502020204030204"/>
            </a:endParaRPr>
          </a:p>
        </p:txBody>
      </p:sp>
    </p:spTree>
    <p:extLst>
      <p:ext uri="{BB962C8B-B14F-4D97-AF65-F5344CB8AC3E}">
        <p14:creationId xmlns:p14="http://schemas.microsoft.com/office/powerpoint/2010/main" val="41754887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WE6 – Data Mining</vt:lpstr>
      <vt:lpstr>The Story</vt:lpstr>
      <vt:lpstr>Data Mining: Business Question</vt:lpstr>
      <vt:lpstr>Data Mining: Decision Tree</vt:lpstr>
      <vt:lpstr>Data Mining: Naïve Bayes</vt:lpstr>
      <vt:lpstr>Data Mining: 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cp:revision>
  <dcterms:created xsi:type="dcterms:W3CDTF">2019-11-20T22:14:25Z</dcterms:created>
  <dcterms:modified xsi:type="dcterms:W3CDTF">2019-11-20T23:47:16Z</dcterms:modified>
</cp:coreProperties>
</file>